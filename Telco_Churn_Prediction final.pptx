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19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CHURN ANALYTICS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182880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02920" y="34290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 with SHAP Explainability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Interactive Streamlit Dashboard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0" y="1097280"/>
            <a:ext cx="1554480" cy="1097280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20700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572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559552" y="1920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269480" y="1097280"/>
            <a:ext cx="1554480" cy="1097280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20700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42632" y="1572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342632" y="1920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0" y="2468880"/>
            <a:ext cx="1554480" cy="1097280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57860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59552" y="29443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Models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5559552" y="3291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269480" y="2468880"/>
            <a:ext cx="1554480" cy="1097280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57860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42632" y="29443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7342632" y="3291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212080" y="4754880"/>
            <a:ext cx="36576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0"/>
          <p:cNvSpPr/>
          <p:nvPr/>
        </p:nvSpPr>
        <p:spPr>
          <a:xfrm>
            <a:off x="521208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· Kaggle Telco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customer churn cost telecom companies billions?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0" cy="2011680"/>
          </a:xfrm>
          <a:prstGeom prst="rect">
            <a:avLst/>
          </a:prstGeom>
          <a:solidFill>
            <a:srgbClr val="E05C5C">
              <a:alpha val="15000"/>
            </a:srgbClr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Lost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Customer Churn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Telecom)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560320" cy="2011680"/>
          </a:xfrm>
          <a:prstGeom prst="rect">
            <a:avLst/>
          </a:prstGeom>
          <a:solidFill>
            <a:srgbClr val="F59E0B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4173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5–25×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0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to Acquire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Retain a Customer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560320" cy="2011680"/>
          </a:xfrm>
          <a:prstGeom prst="rect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4173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35040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 Our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Industry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is ~22%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325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telecom companies react </a:t>
            </a:r>
            <a:r>
              <a:rPr lang="en-US" sz="12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customer leaves — by then it's too late. The goal is to identify </a:t>
            </a: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 before they churn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that retention teams can intervene with targeted offers, contract incentives, or service upgrades — protecting both revenue and customer lifetime value.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ect">
            <a:avLst/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Retention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0352" y="180136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customer service to predictive intelligence — flag at-risk customers weeks before they cancel.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3931920" cy="1554480"/>
          </a:xfrm>
          <a:prstGeom prst="rect">
            <a:avLst/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280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9472" y="180136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5% reduction in churn can increase profits by 25–95% due to customer lifetime value compounding.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926080"/>
            <a:ext cx="3931920" cy="1554480"/>
          </a:xfrm>
          <a:prstGeom prst="rect">
            <a:avLst/>
          </a:prstGeom>
          <a:solidFill>
            <a:srgbClr val="112240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63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0352" y="358444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translate complex model decisions into human-readable drivers — enabling trust and adoption by business teams.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632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19472" y="358444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brings prediction power to frontline agents — no data science background required to use.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OBJECTIVES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58368" cy="11704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Accurately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481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binary classification models that identify customers likely to leave — maximizing recall to minimize missed churn cases.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90672" y="1143000"/>
            <a:ext cx="11887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1143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658368" cy="11704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2588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4688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04688" y="1481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oversampling on training data to correct the 73/27 class imbalance without contaminating the test set.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79792" y="1143000"/>
            <a:ext cx="11887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1143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2350008"/>
            <a:ext cx="40233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50008"/>
            <a:ext cx="658368" cy="11704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624328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15568" y="2441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Predictive 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27797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domain-driven features: ChargesPerMonth, ServiceCount, ContractRisk — encoding business logic into the model.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90672" y="2441448"/>
            <a:ext cx="11887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2441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0" y="2350008"/>
            <a:ext cx="40233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50008"/>
            <a:ext cx="658368" cy="11704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624328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04688" y="2441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RF vs XGBoost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04688" y="27797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two tree-based ensemble models across Recall, ROC-AUC, and classification metrics to identify the best performer.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79792" y="2441448"/>
            <a:ext cx="11887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441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3648456"/>
            <a:ext cx="40233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648456"/>
            <a:ext cx="658368" cy="11704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922776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115568" y="3739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 with SHAP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5568" y="407822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TreeExplainer to generate per-customer waterfall plots — showing why the model predicted churn or retention.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090672" y="3739896"/>
            <a:ext cx="11887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90672" y="37398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3648456"/>
            <a:ext cx="40233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648456"/>
            <a:ext cx="658368" cy="11704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922776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504688" y="3739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Interactive App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04688" y="407822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Streamlit web application where any user can input customer attributes and instantly receive predictions + business recommendations.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79792" y="3739896"/>
            <a:ext cx="11887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79792" y="37398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DATASET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Telco Customer Churn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· IBM Watson Analytics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161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202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161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188720"/>
            <a:ext cx="19202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2161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1965960" cy="2651760"/>
          </a:xfrm>
          <a:prstGeom prst="rect">
            <a:avLst/>
          </a:prstGeom>
          <a:solidFill>
            <a:srgbClr val="11224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48840"/>
            <a:ext cx="1965960" cy="347472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7860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825496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SeniorCitizen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07238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Partner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31927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Dependents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42032" y="2148840"/>
            <a:ext cx="1965960" cy="2651760"/>
          </a:xfrm>
          <a:prstGeom prst="rect">
            <a:avLst/>
          </a:prstGeom>
          <a:solidFill>
            <a:srgbClr val="1122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42032" y="2148840"/>
            <a:ext cx="1965960" cy="347472"/>
          </a:xfrm>
          <a:prstGeom prst="rect">
            <a:avLst/>
          </a:prstGeom>
          <a:solidFill>
            <a:srgbClr val="00D4FF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615184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33472" y="257860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tenure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33472" y="2825496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Contract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33472" y="307238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PaperlessBilling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33472" y="331927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PaymentMethod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633472" y="356616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MonthlyCharges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33472" y="381304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TotalCharges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18304" y="2148840"/>
            <a:ext cx="1965960" cy="2651760"/>
          </a:xfrm>
          <a:prstGeom prst="rect">
            <a:avLst/>
          </a:prstGeom>
          <a:solidFill>
            <a:srgbClr val="1122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18304" y="2148840"/>
            <a:ext cx="1965960" cy="347472"/>
          </a:xfrm>
          <a:prstGeom prst="rect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9744" y="257860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PhoneService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9744" y="2825496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MultipleLines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9744" y="307238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InternetService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9744" y="331927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OnlineSecurity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9744" y="356616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OnlineBackup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9744" y="381304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DeviceProtection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9744" y="4059936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TechSupport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9744" y="430682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StreamingTV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9744" y="455371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StreamingMovies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94576" y="2148840"/>
            <a:ext cx="1965960" cy="2651760"/>
          </a:xfrm>
          <a:prstGeom prst="rect">
            <a:avLst/>
          </a:prstGeom>
          <a:solidFill>
            <a:srgbClr val="112240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94576" y="2148840"/>
            <a:ext cx="1965960" cy="347472"/>
          </a:xfrm>
          <a:prstGeom prst="rect">
            <a:avLst/>
          </a:prstGeom>
          <a:solidFill>
            <a:srgbClr val="E05C5C">
              <a:alpha val="7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967728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86016" y="257860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Churn (Yes/No → 1/0)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11 rows with TotalCharges = " " (whitespace) — all have tenure=0 → filled with 0.0    |    customerID dropped (no predictive value)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PREPROCESSING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325880" cy="2148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325880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299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× 21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92024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83080" y="1097280"/>
            <a:ext cx="1325880" cy="2148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783080" y="1097280"/>
            <a:ext cx="1325880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78308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15087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20299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TotalCharges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82880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str→float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NaN→0.0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920240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246120" y="1097280"/>
            <a:ext cx="1325880" cy="2148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246120" y="1097280"/>
            <a:ext cx="1325880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324612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15087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91840" y="20299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Target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29184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Churn: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Yes=1 / No=0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920240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709160" y="1097280"/>
            <a:ext cx="1325880" cy="2148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709160" y="1097280"/>
            <a:ext cx="1325880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7" name="Text 19"/>
          <p:cNvSpPr/>
          <p:nvPr/>
        </p:nvSpPr>
        <p:spPr>
          <a:xfrm>
            <a:off x="470916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50876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754880" y="20299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Encoding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475488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cols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0/1</a:t>
            </a:r>
            <a:endParaRPr lang="en-US" sz="9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920240"/>
            <a:ext cx="256032" cy="25603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6172200" y="1097280"/>
            <a:ext cx="1325880" cy="2148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172200" y="1097280"/>
            <a:ext cx="1325880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34" name="Text 24"/>
          <p:cNvSpPr/>
          <p:nvPr/>
        </p:nvSpPr>
        <p:spPr>
          <a:xfrm>
            <a:off x="617220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1508760"/>
            <a:ext cx="457200" cy="4572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217920" y="20299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621792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Payment</a:t>
            </a:r>
            <a:endParaRPr lang="en-US" sz="9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920240"/>
            <a:ext cx="256032" cy="256032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7635240" y="1097280"/>
            <a:ext cx="1325880" cy="2148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28"/>
          <p:cNvSpPr/>
          <p:nvPr/>
        </p:nvSpPr>
        <p:spPr>
          <a:xfrm>
            <a:off x="7635240" y="1097280"/>
            <a:ext cx="1325880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41" name="Text 29"/>
          <p:cNvSpPr/>
          <p:nvPr/>
        </p:nvSpPr>
        <p:spPr>
          <a:xfrm>
            <a:off x="763524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1508760"/>
            <a:ext cx="457200" cy="45720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680960" y="20299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44" name="Text 31"/>
          <p:cNvSpPr/>
          <p:nvPr/>
        </p:nvSpPr>
        <p:spPr>
          <a:xfrm>
            <a:off x="768096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ChargesPerMonth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ServiceCount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ContractRisk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320040" y="3474720"/>
            <a:ext cx="8503920" cy="137160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320040" y="347472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3584448"/>
            <a:ext cx="502920" cy="50292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143000" y="35478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Synthetic Minority Oversampling</a:t>
            </a:r>
            <a:endParaRPr lang="en-US" sz="1400" dirty="0"/>
          </a:p>
        </p:txBody>
      </p:sp>
      <p:sp>
        <p:nvSpPr>
          <p:cNvPr id="49" name="Text 35"/>
          <p:cNvSpPr/>
          <p:nvPr/>
        </p:nvSpPr>
        <p:spPr>
          <a:xfrm>
            <a:off x="1143000" y="39136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 (80/20 stratified) → SMOTE applied on X_train only → Balances class from 73/27 to 50/50 → StandardScaler fit on train only (no data leakage)</a:t>
            </a:r>
            <a:endParaRPr lang="en-US" sz="1100" dirty="0"/>
          </a:p>
        </p:txBody>
      </p:sp>
      <p:sp>
        <p:nvSpPr>
          <p:cNvPr id="50" name="Shape 36"/>
          <p:cNvSpPr/>
          <p:nvPr/>
        </p:nvSpPr>
        <p:spPr>
          <a:xfrm>
            <a:off x="6492240" y="3611880"/>
            <a:ext cx="2103120" cy="457200"/>
          </a:xfrm>
          <a:prstGeom prst="rect">
            <a:avLst/>
          </a:prstGeom>
          <a:solidFill>
            <a:srgbClr val="E05C5C">
              <a:alpha val="20000"/>
            </a:srgbClr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51" name="Text 37"/>
          <p:cNvSpPr/>
          <p:nvPr/>
        </p:nvSpPr>
        <p:spPr>
          <a:xfrm>
            <a:off x="649224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73% No / 27% Yes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6492240" y="4206240"/>
            <a:ext cx="2103120" cy="4572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649224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50% No / 50% Yes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EXPLORATORY DATA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&amp; Churn Drivers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1965960" cy="2834640"/>
          </a:xfrm>
          <a:prstGeom prst="rect">
            <a:avLst/>
          </a:prstGeom>
          <a:solidFill>
            <a:srgbClr val="112240"/>
          </a:solidFill>
          <a:ln w="19050">
            <a:solidFill>
              <a:srgbClr val="E05C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51560"/>
            <a:ext cx="1965960" cy="502920"/>
          </a:xfrm>
          <a:prstGeom prst="rect">
            <a:avLst/>
          </a:prstGeom>
          <a:solidFill>
            <a:srgbClr val="E05C5C">
              <a:alpha val="2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1155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" y="1664208"/>
            <a:ext cx="1691640" cy="438912"/>
          </a:xfrm>
          <a:prstGeom prst="rect">
            <a:avLst/>
          </a:prstGeom>
          <a:solidFill>
            <a:srgbClr val="E05C5C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churn rate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221284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~42%. One-year and two-year customers churn at &lt;11%.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23744" y="1051560"/>
            <a:ext cx="1965960" cy="28346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23744" y="1051560"/>
            <a:ext cx="1965960" cy="502920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1155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99232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Effect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660904" y="1664208"/>
            <a:ext cx="1691640" cy="438912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660904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vs 37 months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15184" y="221284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average only 18 months tenure vs 37 months for retained customers — early dropout is critical.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0016" y="1051560"/>
            <a:ext cx="1965960" cy="283464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00016" y="1051560"/>
            <a:ext cx="1965960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11556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75504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837176" y="1664208"/>
            <a:ext cx="1691640" cy="438912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4837176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 vs $61 avg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91456" y="221284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~$74/month on average vs ~$61 for retained. Higher bills → higher exit intent.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876288" y="1051560"/>
            <a:ext cx="1965960" cy="2834640"/>
          </a:xfrm>
          <a:prstGeom prst="rect">
            <a:avLst/>
          </a:prstGeom>
          <a:solidFill>
            <a:srgbClr val="112240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76288" y="1051560"/>
            <a:ext cx="1965960" cy="502920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1115568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51776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013448" y="1664208"/>
            <a:ext cx="1691640" cy="438912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013448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fiber churn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967728" y="221284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users churn at ~41% — possibly due to higher cost + service dissatisfaction. DSL users churn at ~19%.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graphs from notebook: eda_categorical_drivers.png  |  eda_numerical_distributions.png  |  eda_correlation_heatmap.png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65760" y="4453128"/>
            <a:ext cx="841248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4" name="Text 28"/>
          <p:cNvSpPr/>
          <p:nvPr/>
        </p:nvSpPr>
        <p:spPr>
          <a:xfrm>
            <a:off x="365760" y="44531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Insights: Paperless Billing → 33% churn  |  Electronic Check payment → 45% churn  |  No Tech Support → 42% churn  |  Senior Citizens → 41% churn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&amp; Model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612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430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ChargesPerMonth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43000" y="1508760"/>
            <a:ext cx="2286000" cy="27432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÷ (tenure + 1)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" y="18196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rate. A sudden spike signals a plan upgrade or price hike that may trigger exit intent.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331720"/>
            <a:ext cx="5303520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331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414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4231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ServiceCount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143000" y="2788920"/>
            <a:ext cx="228600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1430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7 service flags (0–7)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43000" y="30998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customer embeddedness. Customers subscribed to more services have higher switching costs.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611880"/>
            <a:ext cx="5303520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2160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7033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ContractRisk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1143000" y="4069080"/>
            <a:ext cx="228600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11430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M2M=2 · OneYear=1 · TwoYear=0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43000" y="43799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contract risk score. Captures inherent commitment level not expressed by one-hot encoding alone.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943600" y="1051560"/>
            <a:ext cx="2834640" cy="3291840"/>
          </a:xfrm>
          <a:prstGeom prst="rect">
            <a:avLst/>
          </a:prstGeom>
          <a:solidFill>
            <a:srgbClr val="1122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035040" y="1143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Set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035040" y="1600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numeric: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03504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MonthlyCharges, TotalCharges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03504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flags: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035040" y="2313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encoded columns (0/1)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03504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dummies: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035040" y="28163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columns (Internet, Contract, Payment, MultiLines)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03504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035040" y="3319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ChargesPerMonth, ServiceCount, ContractRisk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035040" y="3611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035040" y="3822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 → models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82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TRAINING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112240"/>
          </a:solidFill>
          <a:ln w="25400">
            <a:solidFill>
              <a:srgbClr val="4A90D9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98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1664208"/>
            <a:ext cx="374904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51760" y="1664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139696"/>
            <a:ext cx="37490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1396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51760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615184"/>
            <a:ext cx="374904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6151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51760" y="2615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'sqrt'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090672"/>
            <a:ext cx="37490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51760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'balanced'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3566160"/>
            <a:ext cx="374904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65176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4041648"/>
            <a:ext cx="37490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4041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651760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(all cores)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4256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via bagging. Robust to overfitting, handles mixed feature types well.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112240"/>
          </a:solidFill>
          <a:ln w="25400">
            <a:solidFill>
              <a:srgbClr val="E05C5C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E05C5C">
              <a:alpha val="70000"/>
            </a:srgbClr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69848"/>
            <a:ext cx="347472" cy="34747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30352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892040" y="1664208"/>
            <a:ext cx="374904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28"/>
          <p:cNvSpPr/>
          <p:nvPr/>
        </p:nvSpPr>
        <p:spPr>
          <a:xfrm>
            <a:off x="498348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7040880" y="1664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892040" y="2139696"/>
            <a:ext cx="37490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5" name="Text 31"/>
          <p:cNvSpPr/>
          <p:nvPr/>
        </p:nvSpPr>
        <p:spPr>
          <a:xfrm>
            <a:off x="4983480" y="21396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040880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892040" y="2615184"/>
            <a:ext cx="374904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4"/>
          <p:cNvSpPr/>
          <p:nvPr/>
        </p:nvSpPr>
        <p:spPr>
          <a:xfrm>
            <a:off x="4983480" y="26151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7040880" y="2615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892040" y="3090672"/>
            <a:ext cx="37490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1" name="Text 37"/>
          <p:cNvSpPr/>
          <p:nvPr/>
        </p:nvSpPr>
        <p:spPr>
          <a:xfrm>
            <a:off x="498348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7040880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4892040" y="3566160"/>
            <a:ext cx="374904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4" name="Text 40"/>
          <p:cNvSpPr/>
          <p:nvPr/>
        </p:nvSpPr>
        <p:spPr>
          <a:xfrm>
            <a:off x="4983480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70408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892040" y="4041648"/>
            <a:ext cx="37490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7" name="Text 43"/>
          <p:cNvSpPr/>
          <p:nvPr/>
        </p:nvSpPr>
        <p:spPr>
          <a:xfrm>
            <a:off x="4983480" y="4041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7040880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(imbalance)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4892040" y="4438357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via sequential correction. Excels at tabular data; scale_pos_weight handles imbalance.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RESULTS &amp; METRICS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960120"/>
            <a:ext cx="192024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960120"/>
            <a:ext cx="192024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146304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960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201168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417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1417320"/>
            <a:ext cx="19202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417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1417320"/>
            <a:ext cx="19202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417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14630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1481328"/>
            <a:ext cx="1097280" cy="301752"/>
          </a:xfrm>
          <a:prstGeom prst="rect">
            <a:avLst/>
          </a:prstGeom>
          <a:solidFill>
            <a:srgbClr val="E05C5C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48132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901952"/>
            <a:ext cx="201168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901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23160" y="1901952"/>
            <a:ext cx="192024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2"/>
          <p:cNvSpPr/>
          <p:nvPr/>
        </p:nvSpPr>
        <p:spPr>
          <a:xfrm>
            <a:off x="2423160" y="19019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1901952"/>
            <a:ext cx="192024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19019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55080" y="1901952"/>
            <a:ext cx="146304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7960" y="1965960"/>
            <a:ext cx="1097280" cy="301752"/>
          </a:xfrm>
          <a:prstGeom prst="rect">
            <a:avLst/>
          </a:prstGeom>
          <a:solidFill>
            <a:srgbClr val="E05C5C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19659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386584"/>
            <a:ext cx="201168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3865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23160" y="2386584"/>
            <a:ext cx="19202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3" name="Text 31"/>
          <p:cNvSpPr/>
          <p:nvPr/>
        </p:nvSpPr>
        <p:spPr>
          <a:xfrm>
            <a:off x="2423160" y="238658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89120" y="2386584"/>
            <a:ext cx="19202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0" y="238658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55080" y="2386584"/>
            <a:ext cx="14630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7" name="Shape 35"/>
          <p:cNvSpPr/>
          <p:nvPr/>
        </p:nvSpPr>
        <p:spPr>
          <a:xfrm>
            <a:off x="6537960" y="2450592"/>
            <a:ext cx="1097280" cy="301752"/>
          </a:xfrm>
          <a:prstGeom prst="rect">
            <a:avLst/>
          </a:prstGeom>
          <a:solidFill>
            <a:srgbClr val="E05C5C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245059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871216"/>
            <a:ext cx="201168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28712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423160" y="2871216"/>
            <a:ext cx="192024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2" name="Text 40"/>
          <p:cNvSpPr/>
          <p:nvPr/>
        </p:nvSpPr>
        <p:spPr>
          <a:xfrm>
            <a:off x="2423160" y="28712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389120" y="2871216"/>
            <a:ext cx="192024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28712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355080" y="2871216"/>
            <a:ext cx="146304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6" name="Shape 44"/>
          <p:cNvSpPr/>
          <p:nvPr/>
        </p:nvSpPr>
        <p:spPr>
          <a:xfrm>
            <a:off x="6537960" y="2935224"/>
            <a:ext cx="1097280" cy="301752"/>
          </a:xfrm>
          <a:prstGeom prst="rect">
            <a:avLst/>
          </a:prstGeom>
          <a:solidFill>
            <a:srgbClr val="E05C5C">
              <a:alpha val="3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537960" y="29352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355848"/>
            <a:ext cx="201168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355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423160" y="3355848"/>
            <a:ext cx="19202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1" name="Text 49"/>
          <p:cNvSpPr/>
          <p:nvPr/>
        </p:nvSpPr>
        <p:spPr>
          <a:xfrm>
            <a:off x="2423160" y="33558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389120" y="3355848"/>
            <a:ext cx="19202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3" name="Text 51"/>
          <p:cNvSpPr/>
          <p:nvPr/>
        </p:nvSpPr>
        <p:spPr>
          <a:xfrm>
            <a:off x="4389120" y="33558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0.811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355080" y="3355848"/>
            <a:ext cx="1463040" cy="43891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5" name="Shape 53"/>
          <p:cNvSpPr/>
          <p:nvPr/>
        </p:nvSpPr>
        <p:spPr>
          <a:xfrm>
            <a:off x="6537960" y="3419856"/>
            <a:ext cx="1097280" cy="301752"/>
          </a:xfrm>
          <a:prstGeom prst="rect">
            <a:avLst/>
          </a:prstGeom>
          <a:solidFill>
            <a:srgbClr val="E05C5C">
              <a:alpha val="3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537960" y="341985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3977640"/>
            <a:ext cx="4206240" cy="914400"/>
          </a:xfrm>
          <a:prstGeom prst="rect">
            <a:avLst/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39776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530352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30352" y="43159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outperforms Random Forest on all metrics. High Recall (0.797) is critical — we prioritize catching churners over minimizing false positives.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00600" y="3977640"/>
            <a:ext cx="39776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8BA8C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39776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Insert: recall_roc_comparison.png + roc_curves.png from notebook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82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MODEL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XGBoost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56032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87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987552"/>
            <a:ext cx="2880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2971800" y="987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0" y="987552"/>
            <a:ext cx="2880360" cy="41148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0" y="987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256032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4475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Type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1444752"/>
            <a:ext cx="288036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144475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(parallel trees)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1444752"/>
            <a:ext cx="288036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144475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(sequential trees)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883664"/>
            <a:ext cx="256032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883664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1800" y="1883664"/>
            <a:ext cx="288036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1883664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parallelizable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1883664"/>
            <a:ext cx="288036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883664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sequential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322576"/>
            <a:ext cx="256032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32257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71800" y="2322576"/>
            <a:ext cx="288036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Text 23"/>
          <p:cNvSpPr/>
          <p:nvPr/>
        </p:nvSpPr>
        <p:spPr>
          <a:xfrm>
            <a:off x="3063240" y="232257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(SHAP works well)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2322576"/>
            <a:ext cx="288036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232257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(SHAP native support)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761488"/>
            <a:ext cx="256032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76148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Imbalance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71800" y="2761488"/>
            <a:ext cx="288036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3063240" y="276148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2761488"/>
            <a:ext cx="288036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276148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parameter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200400"/>
            <a:ext cx="256032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20040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71800" y="3200400"/>
            <a:ext cx="288036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7" name="Text 35"/>
          <p:cNvSpPr/>
          <p:nvPr/>
        </p:nvSpPr>
        <p:spPr>
          <a:xfrm>
            <a:off x="3063240" y="3200400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(bagging averages out)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97880" y="3200400"/>
            <a:ext cx="288036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3200400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(needs tuning)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639312"/>
            <a:ext cx="256032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63931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Metric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71800" y="3639312"/>
            <a:ext cx="288036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Text 41"/>
          <p:cNvSpPr/>
          <p:nvPr/>
        </p:nvSpPr>
        <p:spPr>
          <a:xfrm>
            <a:off x="3063240" y="363931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0.843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97880" y="3639312"/>
            <a:ext cx="288036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43"/>
          <p:cNvSpPr/>
          <p:nvPr/>
        </p:nvSpPr>
        <p:spPr>
          <a:xfrm>
            <a:off x="5989320" y="363931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0.856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078224"/>
            <a:ext cx="256032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078224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71800" y="4078224"/>
            <a:ext cx="288036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9" name="Text 47"/>
          <p:cNvSpPr/>
          <p:nvPr/>
        </p:nvSpPr>
        <p:spPr>
          <a:xfrm>
            <a:off x="3063240" y="4078224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Risk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97880" y="4078224"/>
            <a:ext cx="2880360" cy="39319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1" name="Text 49"/>
          <p:cNvSpPr/>
          <p:nvPr/>
        </p:nvSpPr>
        <p:spPr>
          <a:xfrm>
            <a:off x="5989320" y="4078224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4517136"/>
            <a:ext cx="256032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51713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Size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971800" y="4517136"/>
            <a:ext cx="288036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5" name="Text 53"/>
          <p:cNvSpPr/>
          <p:nvPr/>
        </p:nvSpPr>
        <p:spPr>
          <a:xfrm>
            <a:off x="3063240" y="451713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(300 trees)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897880" y="4517136"/>
            <a:ext cx="2880360" cy="3931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7" name="Text 55"/>
          <p:cNvSpPr/>
          <p:nvPr/>
        </p:nvSpPr>
        <p:spPr>
          <a:xfrm>
            <a:off x="5989320" y="451713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serialization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65760" y="4782312"/>
            <a:ext cx="8412480" cy="292608"/>
          </a:xfrm>
          <a:prstGeom prst="rect">
            <a:avLst/>
          </a:prstGeom>
          <a:solidFill>
            <a:srgbClr val="E05C5C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47823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XGBoost selected as primary model — superior metrics, better recall, and native SHAP compatibility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0" y="182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CHALLENGES &amp; ERROR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3977640" cy="17830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51560"/>
            <a:ext cx="3977640" cy="384048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106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1064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5270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26.5% churn vs 73.5% non-churn — naive models predict all 'No' and achieve 73% accuracy while completely missing churners.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167128"/>
            <a:ext cx="3749040" cy="566928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12064" y="219456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SMOTE applied on training data only, producing balanced 50/50 split without contaminating test set.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36592" y="1051560"/>
            <a:ext cx="3977640" cy="1783080"/>
          </a:xfrm>
          <a:prstGeom prst="rect">
            <a:avLst/>
          </a:prstGeom>
          <a:solidFill>
            <a:srgbClr val="112240"/>
          </a:solidFill>
          <a:ln w="19050">
            <a:solidFill>
              <a:srgbClr val="E05C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6592" y="1051560"/>
            <a:ext cx="3977640" cy="384048"/>
          </a:xfrm>
          <a:prstGeom prst="rect">
            <a:avLst/>
          </a:prstGeom>
          <a:solidFill>
            <a:srgbClr val="E05C5C">
              <a:alpha val="25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10642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11064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Risk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46320" y="15270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StandardScaler must be fit on training data only. Fitting on full dataset before splitting leaks test distribution into training.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846320" y="2167128"/>
            <a:ext cx="3749040" cy="566928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901184" y="219456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Strict pipeline: Split → SMOTE → Scale (fit on train) → Transform test. Prevents inflated metric scores.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47472" y="3017520"/>
            <a:ext cx="3977640" cy="1783080"/>
          </a:xfrm>
          <a:prstGeom prst="rect">
            <a:avLst/>
          </a:prstGeom>
          <a:solidFill>
            <a:srgbClr val="112240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47472" y="3017520"/>
            <a:ext cx="3977640" cy="384048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07238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8952" y="30723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 Mismatch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3493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Streamlit app must produce exactly the same feature columns and order that the models were trained on, or predictions fail.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4133088"/>
            <a:ext cx="3749040" cy="566928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512064" y="416052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feature_columns.json saved and loaded at inference time. Input DataFrame reindexed to match training schema.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736592" y="3017520"/>
            <a:ext cx="3977640" cy="1783080"/>
          </a:xfrm>
          <a:prstGeom prst="rect">
            <a:avLst/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36592" y="3017520"/>
            <a:ext cx="3977640" cy="384048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07238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48072" y="30723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for RF Models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46320" y="3493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Random Forest returns shap_values as a list [class0, class1] while XGBoost returns a single array — different handling required.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846320" y="4133088"/>
            <a:ext cx="3749040" cy="566928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4901184" y="416052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isinstance() check in app.py: if list → use shap_values[1] for positive class; else use directly.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STREAMLIT APP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Churn Predictor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54864" cy="713232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521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Input 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0" y="1097280"/>
            <a:ext cx="1463040" cy="274320"/>
          </a:xfrm>
          <a:prstGeom prst="rect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1480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customer attributes grouped into Demographics, Account Info, and Services. Sliders, dropdowns, radio buttons — no coding needed.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1828800"/>
            <a:ext cx="841248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1828800"/>
            <a:ext cx="54864" cy="713232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568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1901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Model Engine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114800" y="1901952"/>
            <a:ext cx="1463040" cy="27432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11480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Layer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78992" y="2221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Random Forest or XGBoost. Both models are cached with @st.cache_resource for fast repeated inference.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2633472"/>
            <a:ext cx="841248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2633472"/>
            <a:ext cx="54864" cy="71323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6148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78992" y="27066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Plot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114800" y="2706624"/>
            <a:ext cx="1463040" cy="27432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4114800" y="2706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78992" y="3026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Per-prediction TreeExplainer generates a waterfall chart showing top 10 features — red bars push toward churn, blue away from it.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" y="3438144"/>
            <a:ext cx="841248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65760" y="3438144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66160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8992" y="3511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114800" y="3511296"/>
            <a:ext cx="146304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4114800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Layer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78992" y="3831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 translates prediction into plain-language action items: loyalty discounts, contract offers, or premium upgrades.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65760" y="4242816"/>
            <a:ext cx="841248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65760" y="4242816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370832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78992" y="4315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4114800" y="4315968"/>
            <a:ext cx="146304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4114800" y="4315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078992" y="4636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Always-visible dual bar charts display the top 10 model-wide feature importances for both RF and XGBoost side by side.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UI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Step-by-Step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024128"/>
            <a:ext cx="822960" cy="822960"/>
          </a:xfrm>
          <a:prstGeom prst="ellipse">
            <a:avLst/>
          </a:prstGeom>
          <a:solidFill>
            <a:srgbClr val="4A90D9">
              <a:alpha val="80000"/>
            </a:srgbClr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241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933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8163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1353312"/>
            <a:ext cx="329184" cy="3291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23160" y="1024128"/>
            <a:ext cx="822960" cy="822960"/>
          </a:xfrm>
          <a:prstGeom prst="ellipse">
            <a:avLst/>
          </a:prstGeom>
          <a:solidFill>
            <a:srgbClr val="00D4FF">
              <a:alpha val="8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423160" y="10241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1993392"/>
            <a:ext cx="731520" cy="731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03120" y="28163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Customer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in Sidebar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353312"/>
            <a:ext cx="329184" cy="32918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160520" y="1024128"/>
            <a:ext cx="822960" cy="822960"/>
          </a:xfrm>
          <a:prstGeom prst="ellipse">
            <a:avLst/>
          </a:prstGeom>
          <a:solidFill>
            <a:srgbClr val="8B5CF6">
              <a:alpha val="8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160520" y="10241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1993392"/>
            <a:ext cx="731520" cy="7315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840480" y="28163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or XGBoost)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353312"/>
            <a:ext cx="329184" cy="32918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897880" y="1024128"/>
            <a:ext cx="822960" cy="822960"/>
          </a:xfrm>
          <a:prstGeom prst="ellipse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897880" y="10241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1993392"/>
            <a:ext cx="731520" cy="7315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577840" y="28163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Predict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Button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1353312"/>
            <a:ext cx="329184" cy="32918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635240" y="1024128"/>
            <a:ext cx="822960" cy="822960"/>
          </a:xfrm>
          <a:prstGeom prst="ellipse">
            <a:avLst/>
          </a:prstGeom>
          <a:solidFill>
            <a:srgbClr val="E05C5C">
              <a:alpha val="80000"/>
            </a:srgbClr>
          </a:solidFill>
          <a:ln w="25400">
            <a:solidFill>
              <a:srgbClr val="E05C5C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7635240" y="10241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1993392"/>
            <a:ext cx="731520" cy="7315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315200" y="28163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Probability</a:t>
            </a:r>
            <a:endParaRPr lang="en-US" sz="1000" dirty="0"/>
          </a:p>
        </p:txBody>
      </p:sp>
      <p:sp>
        <p:nvSpPr>
          <p:cNvPr id="28" name="Shape 17"/>
          <p:cNvSpPr/>
          <p:nvPr/>
        </p:nvSpPr>
        <p:spPr>
          <a:xfrm>
            <a:off x="365760" y="3611880"/>
            <a:ext cx="4023360" cy="1325880"/>
          </a:xfrm>
          <a:prstGeom prst="rect">
            <a:avLst/>
          </a:prstGeom>
          <a:solidFill>
            <a:srgbClr val="1122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530352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530352" y="40050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generates per-customer SHAP values → Waterfall chart shows top 10 features driving the prediction → Red = pushing toward churn, Blue = pushing away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4754880" y="3611880"/>
            <a:ext cx="4023360" cy="13258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4919472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4919472" y="40050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Offer discounted long-term contract, loyalty discount, free add-ons, assign success manager.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RISK: Enrol in rewards program, offer premium upgrades, quarterly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User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926080" cy="3977640"/>
          </a:xfrm>
          <a:prstGeom prst="rect">
            <a:avLst/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92608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Customer Details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399032"/>
            <a:ext cx="26974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990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Male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810512"/>
            <a:ext cx="26974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8105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Senior: 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221992"/>
            <a:ext cx="26974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21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 12 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633472"/>
            <a:ext cx="26974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6334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Month-to-month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3044952"/>
            <a:ext cx="26974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449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$85.00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456432"/>
            <a:ext cx="26974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4564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Fiber Optic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867912"/>
            <a:ext cx="26974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679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TechSupport: 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" y="4343400"/>
            <a:ext cx="269748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4343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Predict Churn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29000" y="914400"/>
            <a:ext cx="5349240" cy="3977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1051560"/>
            <a:ext cx="5074920" cy="594360"/>
          </a:xfrm>
          <a:prstGeom prst="rect">
            <a:avLst/>
          </a:prstGeom>
          <a:solidFill>
            <a:srgbClr val="E05C5C">
              <a:alpha val="20000"/>
            </a:srgbClr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05156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Likely to Churn   |   Probability: 78.3%   |   Retention: 21.7%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66160" y="1755648"/>
            <a:ext cx="5074920" cy="1874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1755648"/>
            <a:ext cx="5074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SHAP Waterfall Chart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3730752"/>
            <a:ext cx="5074920" cy="86868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73075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Insight: Offer discounted 2-year contract · Free Tech Support bundle · Assign CSM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1781</Words>
  <Application>Microsoft Office PowerPoint</Application>
  <PresentationFormat>On-screen Show (16:9)</PresentationFormat>
  <Paragraphs>343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Prediction</dc:title>
  <dc:subject>PptxGenJS Presentation</dc:subject>
  <dc:creator>PptxGenJS</dc:creator>
  <cp:lastModifiedBy>Drishya Krishna k v</cp:lastModifiedBy>
  <cp:revision>2</cp:revision>
  <dcterms:created xsi:type="dcterms:W3CDTF">2026-05-14T04:53:09Z</dcterms:created>
  <dcterms:modified xsi:type="dcterms:W3CDTF">2026-05-14T05:04:51Z</dcterms:modified>
</cp:coreProperties>
</file>